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7" r:id="rId2"/>
    <p:sldId id="258" r:id="rId3"/>
    <p:sldId id="263" r:id="rId4"/>
    <p:sldId id="264" r:id="rId5"/>
    <p:sldId id="259" r:id="rId6"/>
    <p:sldId id="262" r:id="rId7"/>
    <p:sldId id="26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3E6"/>
    <a:srgbClr val="FF9F3F"/>
    <a:srgbClr val="FFFFF7"/>
    <a:srgbClr val="FFFFFF"/>
    <a:srgbClr val="FFFFCC"/>
    <a:srgbClr val="D26900"/>
    <a:srgbClr val="FF9933"/>
    <a:srgbClr val="CC6600"/>
    <a:srgbClr val="CFE9FF"/>
    <a:srgbClr val="004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BA0BA6-A511-485E-A645-780C7682A357}" v="1" dt="2026-04-03T11:10:29.12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902" autoAdjust="0"/>
  </p:normalViewPr>
  <p:slideViewPr>
    <p:cSldViewPr snapToGrid="0">
      <p:cViewPr varScale="1">
        <p:scale>
          <a:sx n="62" d="100"/>
          <a:sy n="62" d="100"/>
        </p:scale>
        <p:origin x="67" y="6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t barasara" userId="7dea5ccf727f3afd" providerId="LiveId" clId="{1D619EB8-0C34-462B-84DD-55A11D2326AB}"/>
    <pc:docChg chg="undo custSel modSld">
      <pc:chgData name="Het barasara" userId="7dea5ccf727f3afd" providerId="LiveId" clId="{1D619EB8-0C34-462B-84DD-55A11D2326AB}" dt="2026-04-03T12:08:18.229" v="99" actId="20577"/>
      <pc:docMkLst>
        <pc:docMk/>
      </pc:docMkLst>
      <pc:sldChg chg="addSp delSp modSp mod">
        <pc:chgData name="Het barasara" userId="7dea5ccf727f3afd" providerId="LiveId" clId="{1D619EB8-0C34-462B-84DD-55A11D2326AB}" dt="2026-04-03T12:04:44.500" v="53" actId="207"/>
        <pc:sldMkLst>
          <pc:docMk/>
          <pc:sldMk cId="3826417381" sldId="257"/>
        </pc:sldMkLst>
        <pc:spChg chg="del">
          <ac:chgData name="Het barasara" userId="7dea5ccf727f3afd" providerId="LiveId" clId="{1D619EB8-0C34-462B-84DD-55A11D2326AB}" dt="2026-04-03T11:09:46.003" v="4" actId="478"/>
          <ac:spMkLst>
            <pc:docMk/>
            <pc:sldMk cId="3826417381" sldId="257"/>
            <ac:spMk id="19" creationId="{7CEFE923-94F1-1623-B35D-C02C7D7AB3BF}"/>
          </ac:spMkLst>
        </pc:spChg>
        <pc:graphicFrameChg chg="modGraphic">
          <ac:chgData name="Het barasara" userId="7dea5ccf727f3afd" providerId="LiveId" clId="{1D619EB8-0C34-462B-84DD-55A11D2326AB}" dt="2026-04-03T12:04:44.500" v="53" actId="207"/>
          <ac:graphicFrameMkLst>
            <pc:docMk/>
            <pc:sldMk cId="3826417381" sldId="257"/>
            <ac:graphicFrameMk id="18" creationId="{B410299D-48A8-6AFF-907E-0E45EB5B1D78}"/>
          </ac:graphicFrameMkLst>
        </pc:graphicFrameChg>
        <pc:picChg chg="add mod">
          <ac:chgData name="Het barasara" userId="7dea5ccf727f3afd" providerId="LiveId" clId="{1D619EB8-0C34-462B-84DD-55A11D2326AB}" dt="2026-04-03T11:10:19.559" v="9" actId="14100"/>
          <ac:picMkLst>
            <pc:docMk/>
            <pc:sldMk cId="3826417381" sldId="257"/>
            <ac:picMk id="4" creationId="{E4CC945B-5F6B-6087-F240-9AD08D0CFDB9}"/>
          </ac:picMkLst>
        </pc:picChg>
      </pc:sldChg>
      <pc:sldChg chg="addSp delSp modSp mod">
        <pc:chgData name="Het barasara" userId="7dea5ccf727f3afd" providerId="LiveId" clId="{1D619EB8-0C34-462B-84DD-55A11D2326AB}" dt="2026-04-03T11:10:54.364" v="14" actId="1076"/>
        <pc:sldMkLst>
          <pc:docMk/>
          <pc:sldMk cId="138191746" sldId="258"/>
        </pc:sldMkLst>
        <pc:spChg chg="del">
          <ac:chgData name="Het barasara" userId="7dea5ccf727f3afd" providerId="LiveId" clId="{1D619EB8-0C34-462B-84DD-55A11D2326AB}" dt="2026-04-03T11:10:50.854" v="13" actId="478"/>
          <ac:spMkLst>
            <pc:docMk/>
            <pc:sldMk cId="138191746" sldId="258"/>
            <ac:spMk id="18" creationId="{DBE87FCC-94A7-2B30-F566-7E0F857D5000}"/>
          </ac:spMkLst>
        </pc:spChg>
        <pc:picChg chg="add mod">
          <ac:chgData name="Het barasara" userId="7dea5ccf727f3afd" providerId="LiveId" clId="{1D619EB8-0C34-462B-84DD-55A11D2326AB}" dt="2026-04-03T11:10:54.364" v="14" actId="1076"/>
          <ac:picMkLst>
            <pc:docMk/>
            <pc:sldMk cId="138191746" sldId="258"/>
            <ac:picMk id="6" creationId="{F39D2738-235E-B718-DB1B-FDA0E90B1D95}"/>
          </ac:picMkLst>
        </pc:picChg>
      </pc:sldChg>
      <pc:sldChg chg="addSp delSp modSp mod">
        <pc:chgData name="Het barasara" userId="7dea5ccf727f3afd" providerId="LiveId" clId="{1D619EB8-0C34-462B-84DD-55A11D2326AB}" dt="2026-04-03T12:06:41.591" v="59" actId="20577"/>
        <pc:sldMkLst>
          <pc:docMk/>
          <pc:sldMk cId="3383060116" sldId="259"/>
        </pc:sldMkLst>
        <pc:spChg chg="mod">
          <ac:chgData name="Het barasara" userId="7dea5ccf727f3afd" providerId="LiveId" clId="{1D619EB8-0C34-462B-84DD-55A11D2326AB}" dt="2026-04-03T12:06:41.591" v="59" actId="20577"/>
          <ac:spMkLst>
            <pc:docMk/>
            <pc:sldMk cId="3383060116" sldId="259"/>
            <ac:spMk id="5" creationId="{9BDA04D8-5165-7DAE-75F4-4CD2EB1896B4}"/>
          </ac:spMkLst>
        </pc:spChg>
        <pc:spChg chg="del">
          <ac:chgData name="Het barasara" userId="7dea5ccf727f3afd" providerId="LiveId" clId="{1D619EB8-0C34-462B-84DD-55A11D2326AB}" dt="2026-04-03T11:12:28.002" v="22" actId="478"/>
          <ac:spMkLst>
            <pc:docMk/>
            <pc:sldMk cId="3383060116" sldId="259"/>
            <ac:spMk id="18" creationId="{36B01F9E-BA4C-53DC-08CA-8B4C0A38B804}"/>
          </ac:spMkLst>
        </pc:spChg>
        <pc:picChg chg="add mod">
          <ac:chgData name="Het barasara" userId="7dea5ccf727f3afd" providerId="LiveId" clId="{1D619EB8-0C34-462B-84DD-55A11D2326AB}" dt="2026-04-03T11:12:39.368" v="24" actId="1076"/>
          <ac:picMkLst>
            <pc:docMk/>
            <pc:sldMk cId="3383060116" sldId="259"/>
            <ac:picMk id="6" creationId="{881FC4A9-6394-E5FB-DAE7-D749DD36E509}"/>
          </ac:picMkLst>
        </pc:picChg>
      </pc:sldChg>
      <pc:sldChg chg="addSp delSp modSp mod">
        <pc:chgData name="Het barasara" userId="7dea5ccf727f3afd" providerId="LiveId" clId="{1D619EB8-0C34-462B-84DD-55A11D2326AB}" dt="2026-04-03T11:13:33.948" v="32" actId="1076"/>
        <pc:sldMkLst>
          <pc:docMk/>
          <pc:sldMk cId="3581440067" sldId="260"/>
        </pc:sldMkLst>
        <pc:spChg chg="del">
          <ac:chgData name="Het barasara" userId="7dea5ccf727f3afd" providerId="LiveId" clId="{1D619EB8-0C34-462B-84DD-55A11D2326AB}" dt="2026-04-03T11:13:14.951" v="29" actId="478"/>
          <ac:spMkLst>
            <pc:docMk/>
            <pc:sldMk cId="3581440067" sldId="260"/>
            <ac:spMk id="18" creationId="{A53DA483-906F-1D85-4749-97FF57AA2D80}"/>
          </ac:spMkLst>
        </pc:spChg>
        <pc:picChg chg="add mod">
          <ac:chgData name="Het barasara" userId="7dea5ccf727f3afd" providerId="LiveId" clId="{1D619EB8-0C34-462B-84DD-55A11D2326AB}" dt="2026-04-03T11:13:33.948" v="32" actId="1076"/>
          <ac:picMkLst>
            <pc:docMk/>
            <pc:sldMk cId="3581440067" sldId="260"/>
            <ac:picMk id="6" creationId="{4F07173B-DFAD-C9D8-19CC-8DE98EECF06E}"/>
          </ac:picMkLst>
        </pc:picChg>
      </pc:sldChg>
      <pc:sldChg chg="addSp delSp modSp mod">
        <pc:chgData name="Het barasara" userId="7dea5ccf727f3afd" providerId="LiveId" clId="{1D619EB8-0C34-462B-84DD-55A11D2326AB}" dt="2026-04-03T11:13:06.675" v="28" actId="1076"/>
        <pc:sldMkLst>
          <pc:docMk/>
          <pc:sldMk cId="1474992409" sldId="262"/>
        </pc:sldMkLst>
        <pc:spChg chg="del">
          <ac:chgData name="Het barasara" userId="7dea5ccf727f3afd" providerId="LiveId" clId="{1D619EB8-0C34-462B-84DD-55A11D2326AB}" dt="2026-04-03T11:12:52.845" v="25" actId="478"/>
          <ac:spMkLst>
            <pc:docMk/>
            <pc:sldMk cId="1474992409" sldId="262"/>
            <ac:spMk id="18" creationId="{7D9AD005-6E76-B5AB-79B0-1E7C71E01B66}"/>
          </ac:spMkLst>
        </pc:spChg>
        <pc:picChg chg="add mod">
          <ac:chgData name="Het barasara" userId="7dea5ccf727f3afd" providerId="LiveId" clId="{1D619EB8-0C34-462B-84DD-55A11D2326AB}" dt="2026-04-03T11:13:06.675" v="28" actId="1076"/>
          <ac:picMkLst>
            <pc:docMk/>
            <pc:sldMk cId="1474992409" sldId="262"/>
            <ac:picMk id="7" creationId="{4083B022-2168-EBC0-3075-45BFD5A6C686}"/>
          </ac:picMkLst>
        </pc:picChg>
      </pc:sldChg>
      <pc:sldChg chg="addSp delSp modSp mod">
        <pc:chgData name="Het barasara" userId="7dea5ccf727f3afd" providerId="LiveId" clId="{1D619EB8-0C34-462B-84DD-55A11D2326AB}" dt="2026-04-03T11:13:48.855" v="33" actId="1076"/>
        <pc:sldMkLst>
          <pc:docMk/>
          <pc:sldMk cId="1298934497" sldId="263"/>
        </pc:sldMkLst>
        <pc:spChg chg="del">
          <ac:chgData name="Het barasara" userId="7dea5ccf727f3afd" providerId="LiveId" clId="{1D619EB8-0C34-462B-84DD-55A11D2326AB}" dt="2026-04-03T11:11:15.894" v="15" actId="478"/>
          <ac:spMkLst>
            <pc:docMk/>
            <pc:sldMk cId="1298934497" sldId="263"/>
            <ac:spMk id="18" creationId="{E7A0999F-33D8-B264-E962-9DB4330E9025}"/>
          </ac:spMkLst>
        </pc:spChg>
        <pc:picChg chg="add mod">
          <ac:chgData name="Het barasara" userId="7dea5ccf727f3afd" providerId="LiveId" clId="{1D619EB8-0C34-462B-84DD-55A11D2326AB}" dt="2026-04-03T11:13:48.855" v="33" actId="1076"/>
          <ac:picMkLst>
            <pc:docMk/>
            <pc:sldMk cId="1298934497" sldId="263"/>
            <ac:picMk id="8" creationId="{C131CDF1-2605-6102-78CE-4A4455B83792}"/>
          </ac:picMkLst>
        </pc:picChg>
      </pc:sldChg>
      <pc:sldChg chg="addSp delSp modSp mod">
        <pc:chgData name="Het barasara" userId="7dea5ccf727f3afd" providerId="LiveId" clId="{1D619EB8-0C34-462B-84DD-55A11D2326AB}" dt="2026-04-03T12:08:18.229" v="99" actId="20577"/>
        <pc:sldMkLst>
          <pc:docMk/>
          <pc:sldMk cId="297218777" sldId="264"/>
        </pc:sldMkLst>
        <pc:spChg chg="mod">
          <ac:chgData name="Het barasara" userId="7dea5ccf727f3afd" providerId="LiveId" clId="{1D619EB8-0C34-462B-84DD-55A11D2326AB}" dt="2026-04-03T12:08:18.229" v="99" actId="20577"/>
          <ac:spMkLst>
            <pc:docMk/>
            <pc:sldMk cId="297218777" sldId="264"/>
            <ac:spMk id="4" creationId="{D56EE6EA-C6C8-5568-5A03-C180B1A7D723}"/>
          </ac:spMkLst>
        </pc:spChg>
        <pc:spChg chg="del mod">
          <ac:chgData name="Het barasara" userId="7dea5ccf727f3afd" providerId="LiveId" clId="{1D619EB8-0C34-462B-84DD-55A11D2326AB}" dt="2026-04-03T11:12:07.501" v="20" actId="478"/>
          <ac:spMkLst>
            <pc:docMk/>
            <pc:sldMk cId="297218777" sldId="264"/>
            <ac:spMk id="18" creationId="{D797C75E-A338-A5E7-18FE-F36C20D10006}"/>
          </ac:spMkLst>
        </pc:spChg>
        <pc:picChg chg="add mod">
          <ac:chgData name="Het barasara" userId="7dea5ccf727f3afd" providerId="LiveId" clId="{1D619EB8-0C34-462B-84DD-55A11D2326AB}" dt="2026-04-03T11:12:12.100" v="21" actId="1076"/>
          <ac:picMkLst>
            <pc:docMk/>
            <pc:sldMk cId="297218777" sldId="264"/>
            <ac:picMk id="6" creationId="{7C5248EB-7336-F4FA-0F0B-C0A20B9D4DFE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8B6C3B-2558-46AB-A891-05CC4850BC0F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6700CE-82C5-42EB-AEE6-D0E3B48445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51654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39DFD-D154-9695-8060-34FDF7FADA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0D4B68-5F77-2F42-7DDF-4F8517EF6A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E0CF4C-7318-24FE-FD36-96B7FAD3E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D5E2D-8011-4780-A28F-09EF1E847980}" type="datetime1">
              <a:rPr lang="en-IN" smtClean="0"/>
              <a:t>04-04-2026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09737C-174B-B0F4-AC97-2F4D97115F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CRAFTATHON 2026  |  www.craftathon2026.gu-tech.org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C9CCD8-B638-569C-5A16-16935D0B6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5F244-5915-49AC-A305-687BF3FC0C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8617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FA071-5E87-5F1D-7857-168125842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FB20B5-0B4B-BC8D-6738-3BDF5148C0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210C80-0B21-376F-4AC8-CBED6677B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C2D76-EAE2-4AA8-9E36-AEB2E01EBAEE}" type="datetime1">
              <a:rPr lang="en-IN" smtClean="0"/>
              <a:t>04-04-2026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F6ADEE-3FA4-4021-BAA6-4196857F6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CRAFTATHON 2026  |  www.craftathon2026.gu-tech.org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9664C2-CBD6-0057-9925-D7375558A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5F244-5915-49AC-A305-687BF3FC0C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3081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3A3E8-EFF3-2220-DE71-3E8CEE86AC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BE013C-DA16-79BA-2EB4-86B07AE9EC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1ECA71-2F67-2F2A-4699-5125D82A7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2C07D-932A-4B7A-A59A-7B32A9ED942C}" type="datetime1">
              <a:rPr lang="en-IN" smtClean="0"/>
              <a:t>04-04-2026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E2126C-07A2-63BE-6C2A-3C9DE56372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CRAFTATHON 2026  |  www.craftathon2026.gu-tech.org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9C5C98-72EF-219C-30A4-8E990A303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5F244-5915-49AC-A305-687BF3FC0C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61327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06484-B2D4-EC37-299C-D287E47D8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F6D2E-9D77-2324-31C8-522CA499F6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AA26E8-F760-4489-251A-F172356920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7D13D5-33F6-D375-0930-A9C3B6D5B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A313A-512F-4947-AF20-43A0BC93D2E1}" type="datetime1">
              <a:rPr lang="en-IN" smtClean="0"/>
              <a:t>04-04-2026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6F17E7-97ED-960D-1C2E-AAB633E62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CRAFTATHON 2026  |  www.craftathon2026.gu-tech.org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EDA919-EC2C-5F7A-DB23-CA179C0C2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5F244-5915-49AC-A305-687BF3FC0C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8583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8B6E9-D8D2-131D-FED6-C7227D2D1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73CB90-330A-2B57-65B7-B4EF2635A4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D44A26-A284-871F-29D1-D98A184E3D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EFAB54-00DA-87D0-1A14-445F3569AF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F8206F-F98A-E2D6-EB3C-6A2101BC81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EC4C89F-2528-F41F-DCA5-D2A0331D54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4BC79-0395-4461-A59E-194F5452474D}" type="datetime1">
              <a:rPr lang="en-IN" smtClean="0"/>
              <a:t>04-04-2026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4970CD0-C435-6C96-14CF-CEBB63D95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CRAFTATHON 2026  |  www.craftathon2026.gu-tech.org</a:t>
            </a:r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B2E09F-32D1-75BF-FFA4-48F53EBF5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5F244-5915-49AC-A305-687BF3FC0C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50014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109AEB-5D0F-846E-8ABF-7ACAD7063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9608CA-53D0-015E-A17D-B0C4044805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785DB-0642-4127-B3FE-281ED49A2050}" type="datetime1">
              <a:rPr lang="en-IN" smtClean="0"/>
              <a:t>04-04-2026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025711-BB14-9F9A-B7C6-665E32D659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CRAFTATHON 2026  |  www.craftathon2026.gu-tech.org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DFDABD-5D36-2958-0C94-99E502990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5F244-5915-49AC-A305-687BF3FC0C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29024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BF12C34-4E7F-0BE2-54A4-DC45F5DE47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4401C-5570-4CF0-BF71-5AEEC077C340}" type="datetime1">
              <a:rPr lang="en-IN" smtClean="0"/>
              <a:t>04-04-2026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4B9E2B-DA30-85B5-A1DA-0AF9BEAE7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CRAFTATHON 2026  |  www.craftathon2026.gu-tech.org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A14A97-041C-4179-860A-C50752CC3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5F244-5915-49AC-A305-687BF3FC0C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24047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ABA417-6BD6-332B-D18E-66ABAD949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991AAC-3749-1845-237A-C22D7E137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F33F48-B962-0CBA-5178-B3A3AAB177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89A0A6-A100-41F0-946F-97AFAE76CE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32546-BD65-4513-BB29-06F08AC124EA}" type="datetime1">
              <a:rPr lang="en-IN" smtClean="0"/>
              <a:t>04-04-2026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1E7142-4C26-0757-754E-CFE658F1E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CRAFTATHON 2026  |  www.craftathon2026.gu-tech.org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72D721-0D01-1B89-AB8C-50FE37856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5F244-5915-49AC-A305-687BF3FC0C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2138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058C8-9B12-6721-69B2-283A090BD0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874656-86D4-1638-804B-8E668C1440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95E90E-FB80-D960-B70A-4689A1E15A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BC0EF3-5CEF-7FE5-AC3C-99FEF5C8E4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18816-6CF2-48D9-AC7F-E648B6667661}" type="datetime1">
              <a:rPr lang="en-IN" smtClean="0"/>
              <a:t>04-04-2026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33D91E-F632-489A-ECD1-DC69501FB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CRAFTATHON 2026  |  www.craftathon2026.gu-tech.org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574472-DC11-77D0-73FC-BA2C71D10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5F244-5915-49AC-A305-687BF3FC0C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57241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23239-CEB8-F6BA-27B1-4E535D75A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B397E0-FB67-173E-25DE-32BB33190F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114080-62DC-D7DF-9689-103AB13E3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7DF90-33CD-4F0C-A242-026C461A8187}" type="datetime1">
              <a:rPr lang="en-IN" smtClean="0"/>
              <a:t>04-04-2026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2715CF-08D5-33EF-EAD8-4DA074CBF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CRAFTATHON 2026  |  www.craftathon2026.gu-tech.org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CABB8D-4A87-C801-07E7-E354E44AB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5F244-5915-49AC-A305-687BF3FC0C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64500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7826D75-DFE0-6BCC-D235-2C9E0264D6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09C2DE-F52D-30C3-3735-80D0332BC0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314834-1A32-81BD-F726-8C3FD2501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63F4D-C657-4724-864E-FB1FD7AFE16B}" type="datetime1">
              <a:rPr lang="en-IN" smtClean="0"/>
              <a:t>04-04-2026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3B8562-4ECB-AE90-151F-23276264B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CRAFTATHON 2026  |  www.craftathon2026.gu-tech.org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B6554D-40C1-BB53-584F-5B1AB11AA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5F244-5915-49AC-A305-687BF3FC0C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72441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b="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1C9734E-740B-5664-0C39-AEB0A9491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D8C88B-A455-4054-3C43-5045349071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BEA4CF-1A5B-768A-24C5-EAA11CC514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9A11EC-D44A-43B1-84D4-43ABCE83FB18}" type="datetime1">
              <a:rPr lang="en-IN" smtClean="0"/>
              <a:t>04-04-2026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60A029-5F83-D7D7-1B44-296B4C9904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CRAFTATHON 2026  |  www.craftathon2026.gu-tech.org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058C19-2253-2536-F308-91C9D82130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45F244-5915-49AC-A305-687BF3FC0C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9834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hyperlink" Target="mailto:hackathon.info@gandhinagaruni.ac.in" TargetMode="External"/><Relationship Id="rId4" Type="http://schemas.openxmlformats.org/officeDocument/2006/relationships/hyperlink" Target="https://craftathon.gu-tech.org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craftathon.gu-tech.org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5.png"/><Relationship Id="rId4" Type="http://schemas.openxmlformats.org/officeDocument/2006/relationships/hyperlink" Target="mailto:hackathon.info@gandhinagaruni.ac.in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craftathon.gu-tech.org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hyperlink" Target="mailto:hackathon.info@gandhinagaruni.ac.in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craftathon.gu-tech.org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hyperlink" Target="mailto:hackathon.info@gandhinagaruni.ac.in" TargetMode="Externa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hyperlink" Target="https://craftathon.gu-tech.org/" TargetMode="External"/><Relationship Id="rId7" Type="http://schemas.openxmlformats.org/officeDocument/2006/relationships/image" Target="../media/image8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7.png"/><Relationship Id="rId4" Type="http://schemas.openxmlformats.org/officeDocument/2006/relationships/hyperlink" Target="mailto:hackathon.info@gandhinagaruni.ac.in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craftathon.gu-tech.org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hyperlink" Target="mailto:hackathon.info@gandhinagaruni.ac.in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craftathon.gu-tech.org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hyperlink" Target="mailto:hackathon.info@gandhinagaruni.ac.in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A845DA1-28FE-1FEE-CACA-CF8645ED75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012" t="5243" r="20664" b="28070"/>
          <a:stretch>
            <a:fillRect/>
          </a:stretch>
        </p:blipFill>
        <p:spPr>
          <a:xfrm>
            <a:off x="6598597" y="1011354"/>
            <a:ext cx="3738623" cy="32931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866BA42-5193-BC8F-E5B3-0601359987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63" t="35805" r="-263" b="36556"/>
          <a:stretch>
            <a:fillRect/>
          </a:stretch>
        </p:blipFill>
        <p:spPr>
          <a:xfrm>
            <a:off x="3618596" y="80011"/>
            <a:ext cx="4954803" cy="90007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6A5C9EB-900A-0854-4C3B-52B1B34A2FBA}"/>
              </a:ext>
            </a:extLst>
          </p:cNvPr>
          <p:cNvSpPr txBox="1"/>
          <p:nvPr/>
        </p:nvSpPr>
        <p:spPr>
          <a:xfrm>
            <a:off x="321126" y="1309402"/>
            <a:ext cx="9274994" cy="22398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- 1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 – </a:t>
            </a:r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Medication Non-Adherence</a:t>
            </a:r>
            <a:r>
              <a:rPr lang="en-IN" sz="2400" dirty="0"/>
              <a:t> 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Domain – </a:t>
            </a:r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Health Tech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 – Code Squad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0E69AF92-F493-EB20-C788-9857D1887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81931" y="6564696"/>
            <a:ext cx="2743200" cy="365125"/>
          </a:xfrm>
        </p:spPr>
        <p:txBody>
          <a:bodyPr/>
          <a:lstStyle/>
          <a:p>
            <a:fld id="{6645F244-5915-49AC-A305-687BF3FC0C67}" type="slidenum">
              <a:rPr lang="en-IN" smtClean="0"/>
              <a:t>1</a:t>
            </a:fld>
            <a:endParaRPr lang="en-IN"/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410299D-48A8-6AFF-907E-0E45EB5B1D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8782902"/>
              </p:ext>
            </p:extLst>
          </p:nvPr>
        </p:nvGraphicFramePr>
        <p:xfrm>
          <a:off x="507999" y="3878558"/>
          <a:ext cx="11175999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7838">
                  <a:extLst>
                    <a:ext uri="{9D8B030D-6E8A-4147-A177-3AD203B41FA5}">
                      <a16:colId xmlns:a16="http://schemas.microsoft.com/office/drawing/2014/main" val="2279268906"/>
                    </a:ext>
                  </a:extLst>
                </a:gridCol>
                <a:gridCol w="5598161">
                  <a:extLst>
                    <a:ext uri="{9D8B030D-6E8A-4147-A177-3AD203B41FA5}">
                      <a16:colId xmlns:a16="http://schemas.microsoft.com/office/drawing/2014/main" val="2999924545"/>
                    </a:ext>
                  </a:extLst>
                </a:gridCol>
              </a:tblGrid>
              <a:tr h="2839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Team Leader Name –  </a:t>
                      </a: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3E6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Narvin </a:t>
                      </a:r>
                      <a:r>
                        <a:rPr lang="en-IN" sz="1800" b="0" i="0" u="none" kern="1200" dirty="0">
                          <a:solidFill>
                            <a:srgbClr val="0073E6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Sachaniya</a:t>
                      </a: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3E6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Branch, Stream, Year </a:t>
                      </a: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: </a:t>
                      </a: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3E6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BTech, CSE, 2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Email ID –  </a:t>
                      </a: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3E6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sachaniyanarvin21@gmail.com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Contact Number – </a:t>
                      </a: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3E6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9879582006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College/University Name – </a:t>
                      </a: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3E6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Rai </a:t>
                      </a:r>
                      <a:r>
                        <a:rPr kumimoji="0" lang="en-IN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3E6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University </a:t>
                      </a: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3E6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Team Member 1 Name –  </a:t>
                      </a: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3E6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Kiran Chaudhary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Branch, Stream, Year </a:t>
                      </a: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3E6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BTech, CSE, 2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Email ID –  </a:t>
                      </a: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3E6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kiran.chaudhary.cg@gmail.com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Contact Number –  </a:t>
                      </a: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3E6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9106003382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College/University Name – </a:t>
                      </a: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3E6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Rai </a:t>
                      </a:r>
                      <a:r>
                        <a:rPr kumimoji="0" lang="en-IN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3E6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University </a:t>
                      </a: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3E6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40755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Team Member 2 Name –  </a:t>
                      </a: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3E6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Pavan Patel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Branch, Stream, Year </a:t>
                      </a: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3E6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BTech, IT, 2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Email ID –</a:t>
                      </a: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3E6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 patel.pavan.cg@gmail.com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Contact Number – </a:t>
                      </a: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3E6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9978140125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College/University Name –  </a:t>
                      </a: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3E6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Rai </a:t>
                      </a:r>
                      <a:r>
                        <a:rPr kumimoji="0" lang="en-IN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3E6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University </a:t>
                      </a: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3E6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Team Member 3 Name –  </a:t>
                      </a: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3E6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Het Barasara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Branch, Stream, Year </a:t>
                      </a: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3E6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BTech, IT, 2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Email ID –  </a:t>
                      </a: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3E6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hetbarasara@gmail.com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Contact Number –  </a:t>
                      </a: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3E6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8200920651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College/University Name – </a:t>
                      </a: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3E6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Rai </a:t>
                      </a:r>
                      <a:r>
                        <a:rPr kumimoji="0" lang="en-IN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3E6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University </a:t>
                      </a: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3E6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1136351"/>
                  </a:ext>
                </a:extLst>
              </a:tr>
            </a:tbl>
          </a:graphicData>
        </a:graphic>
      </p:graphicFrame>
      <p:sp>
        <p:nvSpPr>
          <p:cNvPr id="2" name="Subtitle 9">
            <a:extLst>
              <a:ext uri="{FF2B5EF4-FFF2-40B4-BE49-F238E27FC236}">
                <a16:creationId xmlns:a16="http://schemas.microsoft.com/office/drawing/2014/main" id="{1F77BCB3-D65B-F38E-C393-E513C4F93CBB}"/>
              </a:ext>
            </a:extLst>
          </p:cNvPr>
          <p:cNvSpPr txBox="1">
            <a:spLocks/>
          </p:cNvSpPr>
          <p:nvPr/>
        </p:nvSpPr>
        <p:spPr>
          <a:xfrm>
            <a:off x="1544320" y="6604000"/>
            <a:ext cx="9144000" cy="2133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200" b="1" dirty="0">
                <a:solidFill>
                  <a:schemeClr val="bg1">
                    <a:lumMod val="50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craftathon.gu-tech.org </a:t>
            </a:r>
            <a:r>
              <a:rPr lang="en-IN" sz="1200" b="1" dirty="0">
                <a:solidFill>
                  <a:schemeClr val="bg1">
                    <a:lumMod val="50000"/>
                  </a:schemeClr>
                </a:solidFill>
              </a:rPr>
              <a:t> |  </a:t>
            </a:r>
            <a:r>
              <a:rPr lang="en-IN" sz="1200" b="1" dirty="0">
                <a:solidFill>
                  <a:schemeClr val="bg1">
                    <a:lumMod val="50000"/>
                  </a:schemeClr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hackathon.info@gandhinagaruni.ac.in</a:t>
            </a:r>
            <a:endParaRPr lang="en-IN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4CC945B-5F6B-6087-F240-9AD08D0CFDB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978" y="-81067"/>
            <a:ext cx="1438100" cy="1438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4173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FBE31F-A567-35AC-7329-BF43356A96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E60DC57E-9D67-6FDA-5820-34F56080E9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63" t="35805" r="-263" b="36556"/>
          <a:stretch>
            <a:fillRect/>
          </a:stretch>
        </p:blipFill>
        <p:spPr>
          <a:xfrm>
            <a:off x="10208871" y="56648"/>
            <a:ext cx="1871242" cy="339926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CE0791-E917-4036-DDF7-029AE9A050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5221" y="916734"/>
            <a:ext cx="5229726" cy="574764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/>
              <a:t>Real-World Context</a:t>
            </a:r>
          </a:p>
          <a:p>
            <a:r>
              <a:rPr lang="en-US" sz="1600" dirty="0"/>
              <a:t>Chronic diseases require regular medication</a:t>
            </a:r>
          </a:p>
          <a:p>
            <a:r>
              <a:rPr lang="en-US" sz="1600" dirty="0"/>
              <a:t>50% patients don’t follow medication properly</a:t>
            </a:r>
            <a:endParaRPr lang="en-IN" sz="1600" dirty="0"/>
          </a:p>
          <a:p>
            <a:r>
              <a:rPr lang="en-US" sz="1600" dirty="0"/>
              <a:t>Reasons: busy lifestyle, forgetfulness, complex schedules</a:t>
            </a:r>
          </a:p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r>
              <a:rPr lang="en-US" sz="1600" b="1" dirty="0"/>
              <a:t>Who Faces This Problem</a:t>
            </a:r>
          </a:p>
          <a:p>
            <a:r>
              <a:rPr lang="en-US" sz="1600" dirty="0"/>
              <a:t>Elderly patients</a:t>
            </a:r>
          </a:p>
          <a:p>
            <a:r>
              <a:rPr lang="en-US" sz="1600" dirty="0"/>
              <a:t>Chronic disease patients</a:t>
            </a:r>
          </a:p>
          <a:p>
            <a:r>
              <a:rPr lang="en-US" sz="1600" dirty="0"/>
              <a:t>Busy working individuals</a:t>
            </a:r>
          </a:p>
          <a:p>
            <a:r>
              <a:rPr lang="en-US" sz="1600" dirty="0"/>
              <a:t>Caregivers and doctors who monitor patients</a:t>
            </a:r>
          </a:p>
          <a:p>
            <a:pPr marL="0" indent="0">
              <a:buNone/>
            </a:pPr>
            <a:br>
              <a:rPr lang="en-US" sz="1800" dirty="0"/>
            </a:br>
            <a:r>
              <a:rPr lang="en-US" sz="1600" b="1" dirty="0"/>
              <a:t>Current Limitations / Pain Points</a:t>
            </a:r>
          </a:p>
          <a:p>
            <a:r>
              <a:rPr lang="en-US" sz="1600" dirty="0"/>
              <a:t>Patients frequently miss doses</a:t>
            </a:r>
          </a:p>
          <a:p>
            <a:r>
              <a:rPr lang="en-US" sz="1600" dirty="0"/>
              <a:t>No proper tracking system</a:t>
            </a:r>
          </a:p>
          <a:p>
            <a:r>
              <a:rPr lang="en-US" sz="1600" dirty="0"/>
              <a:t>Doctors lack real-time patient data</a:t>
            </a:r>
          </a:p>
          <a:p>
            <a:pPr marL="0" indent="0">
              <a:buNone/>
            </a:pPr>
            <a:endParaRPr lang="en-IN" sz="24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C1D9991-0E8D-827D-2529-8A8A91C868A1}"/>
              </a:ext>
            </a:extLst>
          </p:cNvPr>
          <p:cNvSpPr txBox="1"/>
          <p:nvPr/>
        </p:nvSpPr>
        <p:spPr>
          <a:xfrm>
            <a:off x="3186366" y="52438"/>
            <a:ext cx="581926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003366"/>
                </a:solidFill>
              </a:defRPr>
            </a:pPr>
            <a:r>
              <a:rPr sz="4000" dirty="0">
                <a:latin typeface="Montserrat" panose="00000500000000000000" pitchFamily="2" charset="0"/>
              </a:rPr>
              <a:t>Problem Statement</a:t>
            </a:r>
          </a:p>
        </p:txBody>
      </p:sp>
      <p:sp>
        <p:nvSpPr>
          <p:cNvPr id="5" name="Slide Number Placeholder 15">
            <a:extLst>
              <a:ext uri="{FF2B5EF4-FFF2-40B4-BE49-F238E27FC236}">
                <a16:creationId xmlns:a16="http://schemas.microsoft.com/office/drawing/2014/main" id="{60C6E7DD-336F-8D88-D106-04F59F730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81931" y="6564696"/>
            <a:ext cx="2743200" cy="365125"/>
          </a:xfrm>
        </p:spPr>
        <p:txBody>
          <a:bodyPr/>
          <a:lstStyle/>
          <a:p>
            <a:fld id="{6645F244-5915-49AC-A305-687BF3FC0C67}" type="slidenum">
              <a:rPr lang="en-IN" smtClean="0"/>
              <a:t>2</a:t>
            </a:fld>
            <a:endParaRPr lang="en-IN" dirty="0"/>
          </a:p>
        </p:txBody>
      </p:sp>
      <p:sp>
        <p:nvSpPr>
          <p:cNvPr id="3" name="Subtitle 9">
            <a:extLst>
              <a:ext uri="{FF2B5EF4-FFF2-40B4-BE49-F238E27FC236}">
                <a16:creationId xmlns:a16="http://schemas.microsoft.com/office/drawing/2014/main" id="{07A57920-AB93-C5D4-2D8C-A8439B6CFADC}"/>
              </a:ext>
            </a:extLst>
          </p:cNvPr>
          <p:cNvSpPr txBox="1">
            <a:spLocks/>
          </p:cNvSpPr>
          <p:nvPr/>
        </p:nvSpPr>
        <p:spPr>
          <a:xfrm>
            <a:off x="1544320" y="6604000"/>
            <a:ext cx="9144000" cy="2133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200" b="1" dirty="0">
                <a:solidFill>
                  <a:schemeClr val="bg1">
                    <a:lumMod val="50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craftathon.gu-tech.org </a:t>
            </a:r>
            <a:r>
              <a:rPr lang="en-IN" sz="1200" b="1" dirty="0">
                <a:solidFill>
                  <a:schemeClr val="bg1">
                    <a:lumMod val="50000"/>
                  </a:schemeClr>
                </a:solidFill>
              </a:rPr>
              <a:t> |  </a:t>
            </a:r>
            <a:r>
              <a:rPr lang="en-IN" sz="1200" b="1" dirty="0">
                <a:solidFill>
                  <a:schemeClr val="bg1">
                    <a:lumMod val="50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hackathon.info@gandhinagaruni.ac.in</a:t>
            </a:r>
            <a:endParaRPr lang="en-IN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5048C95F-3B6C-53AA-AF03-A838329DCB31}"/>
              </a:ext>
            </a:extLst>
          </p:cNvPr>
          <p:cNvSpPr txBox="1">
            <a:spLocks/>
          </p:cNvSpPr>
          <p:nvPr/>
        </p:nvSpPr>
        <p:spPr>
          <a:xfrm>
            <a:off x="6438894" y="911120"/>
            <a:ext cx="5229726" cy="29362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/>
              <a:t>Supporting Insight</a:t>
            </a:r>
          </a:p>
          <a:p>
            <a:r>
              <a:rPr lang="en-US" sz="1600" dirty="0"/>
              <a:t>Around 50 percent of patients do not follow medication properly</a:t>
            </a:r>
          </a:p>
          <a:p>
            <a:r>
              <a:rPr lang="en-US" sz="1600" dirty="0"/>
              <a:t>Leads to poor outcomes and higher health risks 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b="1" dirty="0"/>
              <a:t>One-Line Problem Definition</a:t>
            </a:r>
          </a:p>
          <a:p>
            <a:r>
              <a:rPr lang="en-US" sz="1600" i="1" dirty="0"/>
              <a:t>“Patients often fail to follow their prescribed medication schedule due to lack of proper tracking, monitoring, and accountability systems.”</a:t>
            </a:r>
            <a:endParaRPr lang="en-US" sz="1600" dirty="0"/>
          </a:p>
          <a:p>
            <a:pPr marL="0" indent="0">
              <a:buFont typeface="Arial" panose="020B0604020202020204" pitchFamily="34" charset="0"/>
              <a:buNone/>
            </a:pPr>
            <a:endParaRPr lang="en-IN" sz="24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6AD1650-81F1-6135-4DBB-D0A0CB03E83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4341" y="3847381"/>
            <a:ext cx="4362584" cy="26002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39D2738-235E-B718-DB1B-FDA0E90B1D9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20" y="-160580"/>
            <a:ext cx="1438100" cy="1438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917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CC3657-3163-74FE-E2D5-472827011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8D282785-F0D6-7A90-87EF-F8F88114C7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63" t="35805" r="-263" b="36556"/>
          <a:stretch>
            <a:fillRect/>
          </a:stretch>
        </p:blipFill>
        <p:spPr>
          <a:xfrm>
            <a:off x="10208871" y="56648"/>
            <a:ext cx="1871242" cy="339926"/>
          </a:xfrm>
          <a:prstGeom prst="rect">
            <a:avLst/>
          </a:prstGeom>
        </p:spPr>
      </p:pic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56090521-B4DF-D921-A075-9C061E09D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81931" y="6564696"/>
            <a:ext cx="2743200" cy="365125"/>
          </a:xfrm>
        </p:spPr>
        <p:txBody>
          <a:bodyPr/>
          <a:lstStyle/>
          <a:p>
            <a:fld id="{6645F244-5915-49AC-A305-687BF3FC0C67}" type="slidenum">
              <a:rPr lang="en-IN" smtClean="0"/>
              <a:t>3</a:t>
            </a:fld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CC5B01-C057-2249-A317-E49578FCD5AC}"/>
              </a:ext>
            </a:extLst>
          </p:cNvPr>
          <p:cNvSpPr txBox="1"/>
          <p:nvPr/>
        </p:nvSpPr>
        <p:spPr>
          <a:xfrm>
            <a:off x="3392170" y="54501"/>
            <a:ext cx="540766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003366"/>
                </a:solidFill>
              </a:defRPr>
            </a:pPr>
            <a:r>
              <a:rPr sz="4000" dirty="0">
                <a:latin typeface="Montserrat" panose="00000500000000000000" pitchFamily="2" charset="0"/>
              </a:rPr>
              <a:t>Proposed Solution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CB1FA641-1DF5-617D-66ED-94E92390E46E}"/>
              </a:ext>
            </a:extLst>
          </p:cNvPr>
          <p:cNvSpPr txBox="1">
            <a:spLocks/>
          </p:cNvSpPr>
          <p:nvPr/>
        </p:nvSpPr>
        <p:spPr>
          <a:xfrm>
            <a:off x="0" y="994610"/>
            <a:ext cx="3838755" cy="55700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endParaRPr lang="en-IN" sz="1600" b="1" dirty="0"/>
          </a:p>
          <a:p>
            <a:pPr algn="just"/>
            <a:r>
              <a:rPr lang="en-IN" sz="1600" b="1" dirty="0"/>
              <a:t>Core Idea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/>
              <a:t>We propose a smart Medication Adherence System that ensures timely medication through reminders, tracking, and real-time monitoring.</a:t>
            </a:r>
          </a:p>
          <a:p>
            <a:pPr lvl="0" algn="l"/>
            <a:r>
              <a:rPr lang="en-US" sz="1700" b="1" dirty="0"/>
              <a:t> </a:t>
            </a:r>
          </a:p>
          <a:p>
            <a:pPr lvl="0" algn="l"/>
            <a:endParaRPr lang="en-US" sz="1700" b="1" dirty="0"/>
          </a:p>
          <a:p>
            <a:pPr algn="l"/>
            <a:r>
              <a:rPr lang="en-IN" sz="1600" b="1" dirty="0"/>
              <a:t>Workflow / Approach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1600" dirty="0"/>
              <a:t>Patient adds medication schedule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1600" dirty="0"/>
              <a:t>System sends reminders at set times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1600" dirty="0"/>
              <a:t>Patient logs dose (Taken / Missed)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1600" dirty="0"/>
              <a:t>System calculates adherence score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600" dirty="0"/>
              <a:t>Doctor monitors data &amp; gets alerts</a:t>
            </a:r>
            <a:endParaRPr lang="en-IN" sz="16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400" b="1" dirty="0"/>
          </a:p>
        </p:txBody>
      </p:sp>
      <p:sp>
        <p:nvSpPr>
          <p:cNvPr id="2" name="Subtitle 9">
            <a:extLst>
              <a:ext uri="{FF2B5EF4-FFF2-40B4-BE49-F238E27FC236}">
                <a16:creationId xmlns:a16="http://schemas.microsoft.com/office/drawing/2014/main" id="{7D0B3636-818A-1279-CCAF-C229EFDA0A36}"/>
              </a:ext>
            </a:extLst>
          </p:cNvPr>
          <p:cNvSpPr txBox="1">
            <a:spLocks/>
          </p:cNvSpPr>
          <p:nvPr/>
        </p:nvSpPr>
        <p:spPr>
          <a:xfrm>
            <a:off x="1544320" y="6604000"/>
            <a:ext cx="9144000" cy="2133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200" b="1" dirty="0">
                <a:solidFill>
                  <a:schemeClr val="bg1">
                    <a:lumMod val="50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craftathon.gu-tech.org </a:t>
            </a:r>
            <a:r>
              <a:rPr lang="en-IN" sz="1200" b="1" dirty="0">
                <a:solidFill>
                  <a:schemeClr val="bg1">
                    <a:lumMod val="50000"/>
                  </a:schemeClr>
                </a:solidFill>
              </a:rPr>
              <a:t> |  </a:t>
            </a:r>
            <a:r>
              <a:rPr lang="en-IN" sz="1200" b="1" dirty="0">
                <a:solidFill>
                  <a:schemeClr val="bg1">
                    <a:lumMod val="50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hackathon.info@gandhinagaruni.ac.in</a:t>
            </a:r>
            <a:endParaRPr lang="en-IN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1D65AB-F4C6-DF60-D5A1-0784D4A30946}"/>
              </a:ext>
            </a:extLst>
          </p:cNvPr>
          <p:cNvSpPr txBox="1">
            <a:spLocks/>
          </p:cNvSpPr>
          <p:nvPr/>
        </p:nvSpPr>
        <p:spPr>
          <a:xfrm>
            <a:off x="8186467" y="1262950"/>
            <a:ext cx="3830127" cy="52499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b="1" dirty="0"/>
              <a:t>Why This is Better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600" dirty="0"/>
              <a:t>Unlike basic reminders, it </a:t>
            </a:r>
            <a:r>
              <a:rPr lang="en-US" sz="1600" b="1" dirty="0"/>
              <a:t>tracks actual intake</a:t>
            </a:r>
            <a:endParaRPr lang="en-US" sz="16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600" dirty="0"/>
              <a:t>Provides </a:t>
            </a:r>
            <a:r>
              <a:rPr lang="en-US" sz="1600" b="1" dirty="0"/>
              <a:t>real-time monitoring</a:t>
            </a:r>
            <a:r>
              <a:rPr lang="en-US" sz="1600" dirty="0"/>
              <a:t> for doctors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600" dirty="0"/>
              <a:t>Reduces manual effort and improves accuracy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1600" dirty="0"/>
              <a:t>Increases patient accountability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800" dirty="0"/>
          </a:p>
          <a:p>
            <a:pPr algn="l"/>
            <a:r>
              <a:rPr lang="en-IN" sz="1600" b="1" dirty="0"/>
              <a:t>Key Features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1600" dirty="0"/>
              <a:t>Smart medication reminders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/>
              <a:t>Easy dose logging (Taken / Missed)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1600" dirty="0"/>
              <a:t>Adherence </a:t>
            </a:r>
            <a:r>
              <a:rPr lang="en-IN" sz="1600" b="1" dirty="0"/>
              <a:t>tracking Missed dose</a:t>
            </a:r>
            <a:r>
              <a:rPr lang="en-IN" sz="1600" dirty="0"/>
              <a:t> detection &amp; alerts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1600" dirty="0"/>
              <a:t>Real-time doctor dashboard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1600" dirty="0"/>
              <a:t>Patient history &amp; reports</a:t>
            </a:r>
            <a:endParaRPr lang="en-US" sz="1600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131CDF1-2605-6102-78CE-4A4455B837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887" y="-175831"/>
            <a:ext cx="1438781" cy="1438781"/>
          </a:xfrm>
          <a:prstGeom prst="rect">
            <a:avLst/>
          </a:prstGeom>
        </p:spPr>
      </p:pic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41825BBE-A8D2-6025-9C61-0973E54FAEB6}"/>
              </a:ext>
            </a:extLst>
          </p:cNvPr>
          <p:cNvSpPr txBox="1">
            <a:spLocks/>
          </p:cNvSpPr>
          <p:nvPr/>
        </p:nvSpPr>
        <p:spPr>
          <a:xfrm>
            <a:off x="4025642" y="1008994"/>
            <a:ext cx="3838755" cy="55700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IN" sz="1600" b="1" dirty="0"/>
              <a:t>[ Patient ]</a:t>
            </a:r>
          </a:p>
          <a:p>
            <a:pPr algn="just"/>
            <a:r>
              <a:rPr lang="en-IN" sz="1600" b="1" dirty="0"/>
              <a:t>     ↓</a:t>
            </a:r>
          </a:p>
          <a:p>
            <a:pPr algn="just"/>
            <a:r>
              <a:rPr lang="en-IN" sz="1600" b="1" dirty="0"/>
              <a:t>[ Add Medicine ]</a:t>
            </a:r>
          </a:p>
          <a:p>
            <a:pPr algn="just"/>
            <a:r>
              <a:rPr lang="en-IN" sz="1600" b="1" dirty="0"/>
              <a:t>     ↓</a:t>
            </a:r>
          </a:p>
          <a:p>
            <a:pPr algn="just"/>
            <a:r>
              <a:rPr lang="en-IN" sz="1600" b="1" dirty="0"/>
              <a:t>[ Set Schedule ]</a:t>
            </a:r>
          </a:p>
          <a:p>
            <a:pPr algn="just"/>
            <a:r>
              <a:rPr lang="en-IN" sz="1600" b="1" dirty="0"/>
              <a:t>     ↓</a:t>
            </a:r>
          </a:p>
          <a:p>
            <a:pPr algn="just"/>
            <a:r>
              <a:rPr lang="en-IN" sz="1600" b="1" dirty="0"/>
              <a:t>[ Reminder Sent 🔔 ]</a:t>
            </a:r>
          </a:p>
          <a:p>
            <a:pPr algn="just"/>
            <a:r>
              <a:rPr lang="en-IN" sz="1600" b="1" dirty="0"/>
              <a:t>     ↓</a:t>
            </a:r>
          </a:p>
          <a:p>
            <a:pPr algn="just"/>
            <a:r>
              <a:rPr lang="en-IN" sz="1600" b="1" dirty="0"/>
              <a:t>[ Mark Dose (Taken ✅ / Missed ❌) ]</a:t>
            </a:r>
          </a:p>
          <a:p>
            <a:pPr algn="just"/>
            <a:r>
              <a:rPr lang="en-IN" sz="1600" b="1" dirty="0"/>
              <a:t>     ↓</a:t>
            </a:r>
          </a:p>
          <a:p>
            <a:pPr algn="just"/>
            <a:r>
              <a:rPr lang="en-IN" sz="1600" b="1" dirty="0"/>
              <a:t>[ Adherence Calculated 📊 ]</a:t>
            </a:r>
          </a:p>
          <a:p>
            <a:pPr algn="just"/>
            <a:r>
              <a:rPr lang="en-IN" sz="1600" b="1" dirty="0"/>
              <a:t>     ↓</a:t>
            </a:r>
          </a:p>
          <a:p>
            <a:pPr algn="just"/>
            <a:r>
              <a:rPr lang="en-IN" sz="1600" b="1" dirty="0"/>
              <a:t>[ Doctor Dashboard 👨‍⚕️ ]</a:t>
            </a:r>
          </a:p>
          <a:p>
            <a:pPr algn="just"/>
            <a:r>
              <a:rPr lang="en-IN" sz="1600" b="1" dirty="0"/>
              <a:t>     ↓</a:t>
            </a:r>
          </a:p>
          <a:p>
            <a:pPr algn="just"/>
            <a:r>
              <a:rPr lang="en-IN" sz="1600" b="1" dirty="0"/>
              <a:t>[ Alerts Generated ⚠️ ]</a:t>
            </a:r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12989344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E958A3-212C-5999-AC1C-1D7A504B3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85175DDA-4E3E-3034-1616-0A82A62544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63" t="35805" r="-263" b="36556"/>
          <a:stretch>
            <a:fillRect/>
          </a:stretch>
        </p:blipFill>
        <p:spPr>
          <a:xfrm>
            <a:off x="10208871" y="56648"/>
            <a:ext cx="1871242" cy="339926"/>
          </a:xfrm>
          <a:prstGeom prst="rect">
            <a:avLst/>
          </a:prstGeom>
        </p:spPr>
      </p:pic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AAFFC58C-011A-8C14-ADFF-A3DE6EDF9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81931" y="6564696"/>
            <a:ext cx="2743200" cy="365125"/>
          </a:xfrm>
        </p:spPr>
        <p:txBody>
          <a:bodyPr/>
          <a:lstStyle/>
          <a:p>
            <a:fld id="{6645F244-5915-49AC-A305-687BF3FC0C67}" type="slidenum">
              <a:rPr lang="en-IN" smtClean="0"/>
              <a:t>4</a:t>
            </a:fld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3631B8A-1EDD-5FA1-31C1-9CC3A21AB408}"/>
              </a:ext>
            </a:extLst>
          </p:cNvPr>
          <p:cNvSpPr txBox="1"/>
          <p:nvPr/>
        </p:nvSpPr>
        <p:spPr>
          <a:xfrm>
            <a:off x="2432061" y="50800"/>
            <a:ext cx="7023076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003366"/>
                </a:solidFill>
              </a:defRPr>
            </a:pPr>
            <a:r>
              <a:rPr sz="4000" dirty="0">
                <a:latin typeface="Montserrat" panose="00000500000000000000" pitchFamily="2" charset="0"/>
              </a:rPr>
              <a:t>Tech Stack / Architecture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6EE6EA-C6C8-5568-5A03-C180B1A7D723}"/>
              </a:ext>
            </a:extLst>
          </p:cNvPr>
          <p:cNvSpPr txBox="1">
            <a:spLocks/>
          </p:cNvSpPr>
          <p:nvPr/>
        </p:nvSpPr>
        <p:spPr>
          <a:xfrm>
            <a:off x="3982453" y="1104177"/>
            <a:ext cx="3942347" cy="48628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/>
            <a:r>
              <a:rPr lang="en-IN" sz="1600" b="1" dirty="0"/>
              <a:t>                   Patient App (Frontend)</a:t>
            </a:r>
          </a:p>
          <a:p>
            <a:pPr lvl="0" algn="l"/>
            <a:r>
              <a:rPr lang="en-IN" sz="1600" b="1" dirty="0"/>
              <a:t>                           (React Native)</a:t>
            </a:r>
          </a:p>
          <a:p>
            <a:pPr lvl="0" algn="l"/>
            <a:r>
              <a:rPr lang="en-IN" sz="1600" b="1" dirty="0"/>
              <a:t>                                        ↓</a:t>
            </a:r>
          </a:p>
          <a:p>
            <a:pPr lvl="0" algn="l"/>
            <a:r>
              <a:rPr lang="en-IN" sz="1600" b="1" dirty="0"/>
              <a:t>                Doctor Dashboard (Web)</a:t>
            </a:r>
          </a:p>
          <a:p>
            <a:pPr lvl="0" algn="l"/>
            <a:r>
              <a:rPr lang="en-IN" sz="1600" b="1" dirty="0"/>
              <a:t>                               (React.js)</a:t>
            </a:r>
          </a:p>
          <a:p>
            <a:pPr lvl="0" algn="l"/>
            <a:r>
              <a:rPr lang="en-IN" sz="1600" b="1" dirty="0"/>
              <a:t>                                        ↓</a:t>
            </a:r>
          </a:p>
          <a:p>
            <a:pPr lvl="0" algn="l"/>
            <a:r>
              <a:rPr lang="en-IN" sz="1600" b="1" dirty="0"/>
              <a:t>                         Backend Server</a:t>
            </a:r>
          </a:p>
          <a:p>
            <a:pPr lvl="0" algn="l"/>
            <a:r>
              <a:rPr lang="en-IN" sz="1600" b="1" dirty="0"/>
              <a:t>                      (Node.js / Express)</a:t>
            </a:r>
          </a:p>
          <a:p>
            <a:pPr lvl="0" algn="l"/>
            <a:r>
              <a:rPr lang="en-IN" sz="1600" b="1" dirty="0"/>
              <a:t>                                        ↓</a:t>
            </a:r>
          </a:p>
          <a:p>
            <a:pPr lvl="0" algn="l"/>
            <a:r>
              <a:rPr lang="en-IN" sz="1600" b="1" dirty="0"/>
              <a:t>                               Database</a:t>
            </a:r>
          </a:p>
          <a:p>
            <a:pPr lvl="0" algn="l"/>
            <a:r>
              <a:rPr lang="en-IN" sz="1600" b="1" dirty="0"/>
              <a:t>       (PostgreSQL + MongoDB + Firebase)</a:t>
            </a:r>
          </a:p>
          <a:p>
            <a:pPr lvl="0" algn="l"/>
            <a:r>
              <a:rPr lang="en-IN" sz="1600" b="1" dirty="0"/>
              <a:t>                                        ↓</a:t>
            </a:r>
          </a:p>
          <a:p>
            <a:pPr lvl="0" algn="l"/>
            <a:r>
              <a:rPr lang="en-IN" sz="1600" b="1" dirty="0"/>
              <a:t>                       Notification Service</a:t>
            </a:r>
          </a:p>
          <a:p>
            <a:pPr lvl="0" algn="l"/>
            <a:r>
              <a:rPr lang="en-IN" sz="1600" b="1" dirty="0"/>
              <a:t>               (Firebase Push Notifications)</a:t>
            </a:r>
            <a:endParaRPr lang="en-IN" sz="1600" dirty="0"/>
          </a:p>
        </p:txBody>
      </p:sp>
      <p:sp>
        <p:nvSpPr>
          <p:cNvPr id="5" name="Subtitle 9">
            <a:extLst>
              <a:ext uri="{FF2B5EF4-FFF2-40B4-BE49-F238E27FC236}">
                <a16:creationId xmlns:a16="http://schemas.microsoft.com/office/drawing/2014/main" id="{CC90CF20-DA0E-2201-7B72-B215F2EFD6BD}"/>
              </a:ext>
            </a:extLst>
          </p:cNvPr>
          <p:cNvSpPr txBox="1">
            <a:spLocks/>
          </p:cNvSpPr>
          <p:nvPr/>
        </p:nvSpPr>
        <p:spPr>
          <a:xfrm>
            <a:off x="1544320" y="6620042"/>
            <a:ext cx="9144000" cy="2133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200" b="1" dirty="0">
                <a:solidFill>
                  <a:schemeClr val="bg1">
                    <a:lumMod val="50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craftathon.gu-tech.org </a:t>
            </a:r>
            <a:r>
              <a:rPr lang="en-IN" sz="1200" b="1" dirty="0">
                <a:solidFill>
                  <a:schemeClr val="bg1">
                    <a:lumMod val="50000"/>
                  </a:schemeClr>
                </a:solidFill>
              </a:rPr>
              <a:t> |  </a:t>
            </a:r>
            <a:r>
              <a:rPr lang="en-IN" sz="1200" b="1" dirty="0">
                <a:solidFill>
                  <a:schemeClr val="bg1">
                    <a:lumMod val="50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hackathon.info@gandhinagaruni.ac.in</a:t>
            </a:r>
            <a:endParaRPr lang="en-IN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C5248EB-7336-F4FA-0F0B-C0A20B9D4D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539" y="-155511"/>
            <a:ext cx="1438781" cy="1438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2187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CA8341-67A4-D533-3FDA-57C8CB7DF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1022D39B-C5BC-0994-E913-8741489A83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63" t="35805" r="-263" b="36556"/>
          <a:stretch>
            <a:fillRect/>
          </a:stretch>
        </p:blipFill>
        <p:spPr>
          <a:xfrm>
            <a:off x="10208871" y="56648"/>
            <a:ext cx="1871242" cy="339926"/>
          </a:xfrm>
          <a:prstGeom prst="rect">
            <a:avLst/>
          </a:prstGeom>
        </p:spPr>
      </p:pic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DE2EE5D0-635E-C73C-9142-90DB1017F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81931" y="6564696"/>
            <a:ext cx="2743200" cy="365125"/>
          </a:xfrm>
        </p:spPr>
        <p:txBody>
          <a:bodyPr/>
          <a:lstStyle/>
          <a:p>
            <a:fld id="{6645F244-5915-49AC-A305-687BF3FC0C67}" type="slidenum">
              <a:rPr lang="en-IN" smtClean="0"/>
              <a:t>5</a:t>
            </a:fld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1A8FC4-907A-25D3-53EA-070FD3D2F35A}"/>
              </a:ext>
            </a:extLst>
          </p:cNvPr>
          <p:cNvSpPr txBox="1"/>
          <p:nvPr/>
        </p:nvSpPr>
        <p:spPr>
          <a:xfrm>
            <a:off x="2765601" y="55245"/>
            <a:ext cx="6660799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003366"/>
                </a:solidFill>
              </a:defRPr>
            </a:pPr>
            <a:r>
              <a:rPr sz="4000" dirty="0">
                <a:latin typeface="Montserrat" panose="00000500000000000000" pitchFamily="2" charset="0"/>
              </a:rPr>
              <a:t>Demo / Implementation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9BDA04D8-5165-7DAE-75F4-4CD2EB1896B4}"/>
              </a:ext>
            </a:extLst>
          </p:cNvPr>
          <p:cNvSpPr txBox="1">
            <a:spLocks/>
          </p:cNvSpPr>
          <p:nvPr/>
        </p:nvSpPr>
        <p:spPr>
          <a:xfrm>
            <a:off x="160422" y="1171074"/>
            <a:ext cx="4471356" cy="50058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sz="1600" b="1" dirty="0"/>
              <a:t>System Workflow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/>
              <a:t>User logs into the application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/>
              <a:t>Adds medication details (name, dosage, timing)</a:t>
            </a:r>
            <a:endParaRPr lang="en-IN" sz="150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/>
              <a:t>Sets a daily/weekly schedule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1600" dirty="0"/>
              <a:t>System sends timely reminders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/>
              <a:t>User marks dose as </a:t>
            </a:r>
            <a:r>
              <a:rPr lang="en-US" sz="1600" b="1" dirty="0"/>
              <a:t>Taken ✅ or Missed ❌</a:t>
            </a:r>
            <a:endParaRPr lang="en-IN" sz="160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1600" dirty="0"/>
              <a:t>System calculates adherence percentage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/>
              <a:t>Data is updated on the doctor dashboard </a:t>
            </a:r>
          </a:p>
          <a:p>
            <a:pPr algn="l"/>
            <a:endParaRPr lang="en-US" sz="1600" dirty="0"/>
          </a:p>
        </p:txBody>
      </p:sp>
      <p:sp>
        <p:nvSpPr>
          <p:cNvPr id="2" name="Subtitle 9">
            <a:extLst>
              <a:ext uri="{FF2B5EF4-FFF2-40B4-BE49-F238E27FC236}">
                <a16:creationId xmlns:a16="http://schemas.microsoft.com/office/drawing/2014/main" id="{ADD41B3D-12CC-11AE-EB86-0BA80E955868}"/>
              </a:ext>
            </a:extLst>
          </p:cNvPr>
          <p:cNvSpPr txBox="1">
            <a:spLocks/>
          </p:cNvSpPr>
          <p:nvPr/>
        </p:nvSpPr>
        <p:spPr>
          <a:xfrm>
            <a:off x="1544320" y="6604000"/>
            <a:ext cx="9144000" cy="2133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200" b="1" dirty="0">
                <a:solidFill>
                  <a:schemeClr val="bg1">
                    <a:lumMod val="50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craftathon.gu-tech.org </a:t>
            </a:r>
            <a:r>
              <a:rPr lang="en-IN" sz="1200" b="1" dirty="0">
                <a:solidFill>
                  <a:schemeClr val="bg1">
                    <a:lumMod val="50000"/>
                  </a:schemeClr>
                </a:solidFill>
              </a:rPr>
              <a:t> |  </a:t>
            </a:r>
            <a:r>
              <a:rPr lang="en-IN" sz="1200" b="1" dirty="0">
                <a:solidFill>
                  <a:schemeClr val="bg1">
                    <a:lumMod val="50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hackathon.info@gandhinagaruni.ac.in</a:t>
            </a:r>
            <a:endParaRPr lang="en-IN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7EB9A3A-27F3-D59F-95EE-DB77ECF6347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3241" y="3723819"/>
            <a:ext cx="4471356" cy="281330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81FC4A9-6394-E5FB-DAE7-D749DD36E50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887" y="-185991"/>
            <a:ext cx="1438781" cy="143878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5FF7FC3-8707-9EF4-9CB3-E768814961A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8164" y="816527"/>
            <a:ext cx="1922610" cy="282298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F0BA3CE-7CDE-D3D6-6FDF-50B3FD39C36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1355" y="821292"/>
            <a:ext cx="1922610" cy="2822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30601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D02B93-B30E-691C-CF20-96C4DFFE0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FF7E18AD-AFBB-C83C-632E-5F2CA22E6B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63" t="35805" r="-263" b="36556"/>
          <a:stretch>
            <a:fillRect/>
          </a:stretch>
        </p:blipFill>
        <p:spPr>
          <a:xfrm>
            <a:off x="10208871" y="56648"/>
            <a:ext cx="1871242" cy="339926"/>
          </a:xfrm>
          <a:prstGeom prst="rect">
            <a:avLst/>
          </a:prstGeom>
        </p:spPr>
      </p:pic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F1CF4161-E9AB-ED4D-AE13-99FD7FBB1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81931" y="6564696"/>
            <a:ext cx="2743200" cy="365125"/>
          </a:xfrm>
        </p:spPr>
        <p:txBody>
          <a:bodyPr/>
          <a:lstStyle/>
          <a:p>
            <a:fld id="{6645F244-5915-49AC-A305-687BF3FC0C67}" type="slidenum">
              <a:rPr lang="en-IN" smtClean="0"/>
              <a:t>6</a:t>
            </a:fld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94456FB-CBC5-53B0-C474-04F02A3B5E99}"/>
              </a:ext>
            </a:extLst>
          </p:cNvPr>
          <p:cNvSpPr txBox="1"/>
          <p:nvPr/>
        </p:nvSpPr>
        <p:spPr>
          <a:xfrm>
            <a:off x="2924297" y="55245"/>
            <a:ext cx="6343404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003366"/>
                </a:solidFill>
              </a:defRPr>
            </a:pPr>
            <a:r>
              <a:rPr sz="4000" dirty="0">
                <a:latin typeface="Montserrat" panose="00000500000000000000" pitchFamily="2" charset="0"/>
              </a:rPr>
              <a:t>Impact &amp; Future Scope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F0EA652B-4B83-8218-A9DF-9E71E220EF78}"/>
              </a:ext>
            </a:extLst>
          </p:cNvPr>
          <p:cNvSpPr txBox="1">
            <a:spLocks/>
          </p:cNvSpPr>
          <p:nvPr/>
        </p:nvSpPr>
        <p:spPr>
          <a:xfrm>
            <a:off x="353681" y="1010652"/>
            <a:ext cx="5598695" cy="5554043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/>
            <a:r>
              <a:rPr lang="en-US" sz="2900" b="1" dirty="0"/>
              <a:t>Impact (Why it matters)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US" sz="2900" dirty="0"/>
              <a:t>Improves patient medication adherence and consistency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US" sz="2900" dirty="0"/>
              <a:t>Enables real-time monitoring for doctors and caregivers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US" sz="2900" dirty="0"/>
              <a:t>Saves time through automated reminders and tracking</a:t>
            </a:r>
          </a:p>
          <a:p>
            <a:pPr lvl="0" algn="l"/>
            <a:endParaRPr lang="en-US" sz="1800" dirty="0"/>
          </a:p>
          <a:p>
            <a:pPr lvl="0" algn="l"/>
            <a:r>
              <a:rPr lang="en-IN" sz="2900" b="1" dirty="0"/>
              <a:t>Quantifiable Improvements</a:t>
            </a:r>
            <a:r>
              <a:rPr lang="en-US" sz="2900" b="1" dirty="0"/>
              <a:t>Environmental or social impact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US" sz="2900" dirty="0"/>
              <a:t>30–50% reduction in missed doses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US" sz="2900" dirty="0"/>
              <a:t>Lower hospitalization and treatment costs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US" sz="2900" dirty="0"/>
              <a:t>Improved patient recovery rates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endParaRPr lang="en-US" sz="2100" dirty="0"/>
          </a:p>
          <a:p>
            <a:pPr lvl="0" algn="l"/>
            <a:r>
              <a:rPr lang="en-IN" sz="2900" b="1" dirty="0"/>
              <a:t>Social / Healthcare Impact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US" sz="2900" dirty="0"/>
              <a:t>Better management of chronic diseases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US" sz="2900" dirty="0"/>
              <a:t>Supports elderly and dependent patients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US" sz="2900" dirty="0"/>
              <a:t>Reduces burden on healthcare systems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endParaRPr lang="en-US" sz="2100" dirty="0"/>
          </a:p>
          <a:p>
            <a:pPr lvl="0" algn="l"/>
            <a:r>
              <a:rPr lang="en-IN" sz="2900" b="1" dirty="0"/>
              <a:t>Industry Applicability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IN" sz="2900" dirty="0"/>
              <a:t>Hospitals &amp; clinics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IN" sz="2900" dirty="0"/>
              <a:t>Telemedicine platforms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IN" sz="2900" dirty="0"/>
              <a:t>Health insurance companies</a:t>
            </a:r>
          </a:p>
        </p:txBody>
      </p:sp>
      <p:sp>
        <p:nvSpPr>
          <p:cNvPr id="3" name="Subtitle 9">
            <a:extLst>
              <a:ext uri="{FF2B5EF4-FFF2-40B4-BE49-F238E27FC236}">
                <a16:creationId xmlns:a16="http://schemas.microsoft.com/office/drawing/2014/main" id="{CF818344-94BD-FFED-CE37-430B51D3F824}"/>
              </a:ext>
            </a:extLst>
          </p:cNvPr>
          <p:cNvSpPr txBox="1">
            <a:spLocks/>
          </p:cNvSpPr>
          <p:nvPr/>
        </p:nvSpPr>
        <p:spPr>
          <a:xfrm>
            <a:off x="1544320" y="6604000"/>
            <a:ext cx="9144000" cy="2133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200" b="1" dirty="0">
                <a:solidFill>
                  <a:schemeClr val="bg1">
                    <a:lumMod val="50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craftathon.gu-tech.org </a:t>
            </a:r>
            <a:r>
              <a:rPr lang="en-IN" sz="1200" b="1" dirty="0">
                <a:solidFill>
                  <a:schemeClr val="bg1">
                    <a:lumMod val="50000"/>
                  </a:schemeClr>
                </a:solidFill>
              </a:rPr>
              <a:t> |  </a:t>
            </a:r>
            <a:r>
              <a:rPr lang="en-IN" sz="1200" b="1" dirty="0">
                <a:solidFill>
                  <a:schemeClr val="bg1">
                    <a:lumMod val="50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hackathon.info@gandhinagaruni.ac.in</a:t>
            </a:r>
            <a:endParaRPr lang="en-IN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200D293D-7FD2-1531-BDE3-A1817C879355}"/>
              </a:ext>
            </a:extLst>
          </p:cNvPr>
          <p:cNvSpPr txBox="1">
            <a:spLocks/>
          </p:cNvSpPr>
          <p:nvPr/>
        </p:nvSpPr>
        <p:spPr>
          <a:xfrm>
            <a:off x="6956224" y="1010651"/>
            <a:ext cx="5149516" cy="55540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/>
            <a:r>
              <a:rPr lang="en-IN" sz="1600" b="1" dirty="0"/>
              <a:t>Scalability</a:t>
            </a:r>
            <a:r>
              <a:rPr lang="en-US" sz="1600" b="1" dirty="0"/>
              <a:t>Future enhancements or features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US" sz="1600" dirty="0"/>
              <a:t>Can be used in hospitals, clinics, and home care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US" sz="1600" dirty="0"/>
              <a:t>Scalable to millions of users via mobile apps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US" sz="1600" dirty="0"/>
              <a:t>Integrates with existing healthcare systems (EHR)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endParaRPr lang="en-US" sz="1500" dirty="0"/>
          </a:p>
          <a:p>
            <a:pPr lvl="0" algn="l"/>
            <a:r>
              <a:rPr lang="en-US" sz="1600" b="1" dirty="0"/>
              <a:t>Key </a:t>
            </a:r>
            <a:r>
              <a:rPr lang="en-IN" sz="1600" b="1" dirty="0"/>
              <a:t>Features </a:t>
            </a:r>
          </a:p>
          <a:p>
            <a:pPr marL="285750" lvl="0" indent="-285750" algn="l">
              <a:buFont typeface="Arial" panose="020B0604020202020204" pitchFamily="34" charset="0"/>
              <a:buChar char="•"/>
            </a:pPr>
            <a:r>
              <a:rPr lang="en-IN" sz="1600" dirty="0"/>
              <a:t>Smart Medication Reminders</a:t>
            </a:r>
          </a:p>
          <a:p>
            <a:pPr marL="285750" lvl="0" indent="-285750" algn="l">
              <a:buFont typeface="Arial" panose="020B0604020202020204" pitchFamily="34" charset="0"/>
              <a:buChar char="•"/>
            </a:pPr>
            <a:r>
              <a:rPr lang="en-IN" sz="1600" dirty="0"/>
              <a:t>Adherence Tracking &amp; Score</a:t>
            </a:r>
          </a:p>
          <a:p>
            <a:pPr marL="285750" lvl="0" indent="-285750" algn="l">
              <a:buFont typeface="Arial" panose="020B0604020202020204" pitchFamily="34" charset="0"/>
              <a:buChar char="•"/>
            </a:pPr>
            <a:r>
              <a:rPr lang="en-IN" sz="1600" dirty="0"/>
              <a:t>Missed Dose Alerts</a:t>
            </a:r>
          </a:p>
          <a:p>
            <a:pPr marL="285750" lvl="0" indent="-285750" algn="l">
              <a:buFont typeface="Arial" panose="020B0604020202020204" pitchFamily="34" charset="0"/>
              <a:buChar char="•"/>
            </a:pPr>
            <a:r>
              <a:rPr lang="en-IN" sz="1600" dirty="0"/>
              <a:t>Patient Monitoring Dashboard</a:t>
            </a:r>
            <a:endParaRPr lang="en-US" sz="1600" dirty="0"/>
          </a:p>
          <a:p>
            <a:pPr lvl="0" algn="l"/>
            <a:endParaRPr lang="en-IN" sz="1600" b="1" dirty="0"/>
          </a:p>
          <a:p>
            <a:pPr lvl="0" algn="l"/>
            <a:r>
              <a:rPr lang="en-IN" sz="1600" b="1" dirty="0"/>
              <a:t>Future Scope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US" sz="1600" dirty="0"/>
              <a:t>High-risk patient </a:t>
            </a:r>
            <a:r>
              <a:rPr lang="en-IN" sz="1600" dirty="0"/>
              <a:t>detections</a:t>
            </a:r>
            <a:endParaRPr lang="en-US" sz="1600" dirty="0"/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IN" sz="1600" dirty="0"/>
              <a:t>Repeat reminders until confirmed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IN" sz="1600" dirty="0"/>
              <a:t>Personalized treatment recommendations</a:t>
            </a:r>
          </a:p>
          <a:p>
            <a:pPr lvl="0" algn="l"/>
            <a:endParaRPr lang="en-US" sz="15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083B022-2168-EBC0-3075-45BFD5A6C6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887" y="-165671"/>
            <a:ext cx="1438781" cy="1438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9924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E0162-718F-978C-0ECA-9FD54A525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44B66ED1-23F7-F165-A39A-FA7B100722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63" t="35805" r="-263" b="36556"/>
          <a:stretch>
            <a:fillRect/>
          </a:stretch>
        </p:blipFill>
        <p:spPr>
          <a:xfrm>
            <a:off x="10208871" y="56648"/>
            <a:ext cx="1871242" cy="339926"/>
          </a:xfrm>
          <a:prstGeom prst="rect">
            <a:avLst/>
          </a:prstGeom>
        </p:spPr>
      </p:pic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AE7C7905-5CF1-C576-5BFD-D89747F1D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81931" y="6564696"/>
            <a:ext cx="2743200" cy="365125"/>
          </a:xfrm>
        </p:spPr>
        <p:txBody>
          <a:bodyPr/>
          <a:lstStyle/>
          <a:p>
            <a:fld id="{6645F244-5915-49AC-A305-687BF3FC0C67}" type="slidenum">
              <a:rPr lang="en-IN" smtClean="0"/>
              <a:t>7</a:t>
            </a:fld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802F95F-029A-2D30-5878-D373842D144C}"/>
              </a:ext>
            </a:extLst>
          </p:cNvPr>
          <p:cNvSpPr txBox="1"/>
          <p:nvPr/>
        </p:nvSpPr>
        <p:spPr>
          <a:xfrm>
            <a:off x="3708166" y="46593"/>
            <a:ext cx="4775666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003366"/>
                </a:solidFill>
              </a:defRPr>
            </a:pPr>
            <a:r>
              <a:rPr lang="en-US" sz="4000" dirty="0">
                <a:latin typeface="Montserrat" panose="00000500000000000000" pitchFamily="2" charset="0"/>
              </a:rPr>
              <a:t>Final </a:t>
            </a:r>
            <a:r>
              <a:rPr sz="4000" dirty="0">
                <a:latin typeface="Montserrat" panose="00000500000000000000" pitchFamily="2" charset="0"/>
              </a:rPr>
              <a:t>Conclusion 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FB061E55-93C1-1FA4-0E82-4D70B6F803B2}"/>
              </a:ext>
            </a:extLst>
          </p:cNvPr>
          <p:cNvSpPr txBox="1">
            <a:spLocks/>
          </p:cNvSpPr>
          <p:nvPr/>
        </p:nvSpPr>
        <p:spPr>
          <a:xfrm>
            <a:off x="838199" y="1511921"/>
            <a:ext cx="10515600" cy="47783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/>
            <a:r>
              <a:rPr lang="en-IN" sz="1600" b="1" dirty="0"/>
              <a:t>Final Conclusion 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US" sz="1600" dirty="0"/>
              <a:t>Medication non-adherence leads to poor treatment outcomes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US" sz="1600" dirty="0"/>
              <a:t>Proposed a smart monitoring and alert system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US" sz="1600" dirty="0"/>
              <a:t>Enables real-time tracking, reminders, and compliance analysis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US" sz="1600" dirty="0"/>
              <a:t>Improves patient adherence and reduces health risks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endParaRPr lang="en-IN" sz="1600" dirty="0"/>
          </a:p>
          <a:p>
            <a:pPr lvl="0" algn="l"/>
            <a:r>
              <a:rPr lang="en-IN" sz="1600" b="1" dirty="0"/>
              <a:t>Key Achievements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IN" sz="1600" dirty="0"/>
              <a:t>Prototype design completed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US" sz="1600" dirty="0"/>
              <a:t>Core features implemented (tracking + alerts)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US" sz="1600" dirty="0"/>
              <a:t>Ready for real-world testing and validation</a:t>
            </a:r>
            <a:endParaRPr lang="en-IN" sz="1600" dirty="0"/>
          </a:p>
        </p:txBody>
      </p:sp>
      <p:sp>
        <p:nvSpPr>
          <p:cNvPr id="3" name="Subtitle 9">
            <a:extLst>
              <a:ext uri="{FF2B5EF4-FFF2-40B4-BE49-F238E27FC236}">
                <a16:creationId xmlns:a16="http://schemas.microsoft.com/office/drawing/2014/main" id="{C7692B2E-FD9B-C1FF-F2EB-EF7E1B2B54B9}"/>
              </a:ext>
            </a:extLst>
          </p:cNvPr>
          <p:cNvSpPr txBox="1">
            <a:spLocks/>
          </p:cNvSpPr>
          <p:nvPr/>
        </p:nvSpPr>
        <p:spPr>
          <a:xfrm>
            <a:off x="1544320" y="6604000"/>
            <a:ext cx="9144000" cy="2133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200" b="1" dirty="0">
                <a:solidFill>
                  <a:schemeClr val="bg1">
                    <a:lumMod val="50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craftathon.gu-tech.org </a:t>
            </a:r>
            <a:r>
              <a:rPr lang="en-IN" sz="1200" b="1" dirty="0">
                <a:solidFill>
                  <a:schemeClr val="bg1">
                    <a:lumMod val="50000"/>
                  </a:schemeClr>
                </a:solidFill>
              </a:rPr>
              <a:t> |  </a:t>
            </a:r>
            <a:r>
              <a:rPr lang="en-IN" sz="1200" b="1" dirty="0">
                <a:solidFill>
                  <a:schemeClr val="bg1">
                    <a:lumMod val="50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hackathon.info@gandhinagaruni.ac.in</a:t>
            </a:r>
            <a:endParaRPr lang="en-IN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F07173B-DFAD-C9D8-19CC-8DE98EECF0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539" y="-151687"/>
            <a:ext cx="1438781" cy="1438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14400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F67F0B5-0DDB-4E5F-88A8-8154087BA0A4}">
  <we:reference id="wa104038830" version="1.0.0.3" store="en-US" storeType="OMEX"/>
  <we:alternateReferences>
    <we:reference id="wa104038830" version="1.0.0.3" store="wa104038830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905</TotalTime>
  <Words>873</Words>
  <Application>Microsoft Office PowerPoint</Application>
  <PresentationFormat>Widescreen</PresentationFormat>
  <Paragraphs>168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TRIPATHI SHOBHIT</dc:creator>
  <cp:lastModifiedBy>Pavan Patel</cp:lastModifiedBy>
  <cp:revision>29</cp:revision>
  <dcterms:created xsi:type="dcterms:W3CDTF">2025-11-05T04:28:16Z</dcterms:created>
  <dcterms:modified xsi:type="dcterms:W3CDTF">2026-04-04T10:26:25Z</dcterms:modified>
</cp:coreProperties>
</file>